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5015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7F0CD-2FE0-2CF5-E867-FA8F8F6E3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B88B9-976E-C4DC-69EE-17CC753AC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8D4CD-2AFE-3843-438D-666C1DA4F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20AC7-E8D3-417F-8C3C-DF1E714E254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07B21-DF21-C302-45A2-AF7E4CABC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B348B-02B0-E086-CA8C-F034E298F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360D6-CF75-4C31-B61C-0C9B8F5C9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552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144000" cy="981075"/>
            <a:chOff x="0" y="0"/>
            <a:chExt cx="12192000" cy="13081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12984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23" y="1303019"/>
              <a:ext cx="12190730" cy="0"/>
            </a:xfrm>
            <a:custGeom>
              <a:avLst/>
              <a:gdLst/>
              <a:ahLst/>
              <a:cxnLst/>
              <a:rect l="l" t="t" r="r" b="b"/>
              <a:pathLst>
                <a:path w="12190730">
                  <a:moveTo>
                    <a:pt x="0" y="0"/>
                  </a:moveTo>
                  <a:lnTo>
                    <a:pt x="12190476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71451" y="1124712"/>
            <a:ext cx="1316831" cy="1385411"/>
            <a:chOff x="228600" y="1499616"/>
            <a:chExt cx="1755775" cy="1847214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744" y="1508760"/>
              <a:ext cx="1737360" cy="18288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33172" y="1504188"/>
              <a:ext cx="1746885" cy="1838325"/>
            </a:xfrm>
            <a:custGeom>
              <a:avLst/>
              <a:gdLst/>
              <a:ahLst/>
              <a:cxnLst/>
              <a:rect l="l" t="t" r="r" b="b"/>
              <a:pathLst>
                <a:path w="1746885" h="1838325">
                  <a:moveTo>
                    <a:pt x="0" y="1837943"/>
                  </a:moveTo>
                  <a:lnTo>
                    <a:pt x="1746503" y="1837943"/>
                  </a:lnTo>
                  <a:lnTo>
                    <a:pt x="1746503" y="0"/>
                  </a:lnTo>
                  <a:lnTo>
                    <a:pt x="0" y="0"/>
                  </a:lnTo>
                  <a:lnTo>
                    <a:pt x="0" y="183794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230689" y="1177348"/>
            <a:ext cx="4064318" cy="239970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1500" b="1" dirty="0">
                <a:solidFill>
                  <a:srgbClr val="003300"/>
                </a:solidFill>
                <a:latin typeface="Times New Roman"/>
                <a:cs typeface="Times New Roman"/>
              </a:rPr>
              <a:t>BANGALORE</a:t>
            </a:r>
            <a:r>
              <a:rPr sz="1500" b="1" spc="-79" dirty="0">
                <a:solidFill>
                  <a:srgbClr val="003300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003300"/>
                </a:solidFill>
                <a:latin typeface="Times New Roman"/>
                <a:cs typeface="Times New Roman"/>
              </a:rPr>
              <a:t>INSTITUTE</a:t>
            </a:r>
            <a:r>
              <a:rPr sz="1500" b="1" spc="-19" dirty="0">
                <a:solidFill>
                  <a:srgbClr val="003300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003300"/>
                </a:solidFill>
                <a:latin typeface="Times New Roman"/>
                <a:cs typeface="Times New Roman"/>
              </a:rPr>
              <a:t>OF</a:t>
            </a:r>
            <a:r>
              <a:rPr sz="1500" b="1" spc="-94" dirty="0">
                <a:solidFill>
                  <a:srgbClr val="003300"/>
                </a:solidFill>
                <a:latin typeface="Times New Roman"/>
                <a:cs typeface="Times New Roman"/>
              </a:rPr>
              <a:t> </a:t>
            </a:r>
            <a:r>
              <a:rPr sz="1500" b="1" spc="-8" dirty="0">
                <a:solidFill>
                  <a:srgbClr val="003300"/>
                </a:solidFill>
                <a:latin typeface="Times New Roman"/>
                <a:cs typeface="Times New Roman"/>
              </a:rPr>
              <a:t>TECHNOLOGY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84876" y="1405356"/>
            <a:ext cx="6514148" cy="151772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649605" marR="3810" algn="ctr">
              <a:lnSpc>
                <a:spcPct val="150100"/>
              </a:lnSpc>
              <a:spcBef>
                <a:spcPts val="75"/>
              </a:spcBef>
            </a:pPr>
            <a:r>
              <a:rPr sz="1500" b="1" spc="-23" dirty="0">
                <a:solidFill>
                  <a:srgbClr val="003300"/>
                </a:solidFill>
                <a:latin typeface="Times New Roman"/>
                <a:cs typeface="Times New Roman"/>
              </a:rPr>
              <a:t>DEPARTMENT </a:t>
            </a:r>
            <a:r>
              <a:rPr sz="1500" b="1" dirty="0">
                <a:solidFill>
                  <a:srgbClr val="003300"/>
                </a:solidFill>
                <a:latin typeface="Times New Roman"/>
                <a:cs typeface="Times New Roman"/>
              </a:rPr>
              <a:t>OF</a:t>
            </a:r>
            <a:r>
              <a:rPr sz="1500" b="1" spc="-71" dirty="0">
                <a:solidFill>
                  <a:srgbClr val="003300"/>
                </a:solidFill>
                <a:latin typeface="Times New Roman"/>
                <a:cs typeface="Times New Roman"/>
              </a:rPr>
              <a:t> </a:t>
            </a:r>
            <a:r>
              <a:rPr sz="1500" b="1" spc="-15" dirty="0">
                <a:solidFill>
                  <a:srgbClr val="003300"/>
                </a:solidFill>
                <a:latin typeface="Times New Roman"/>
                <a:cs typeface="Times New Roman"/>
              </a:rPr>
              <a:t>INFORMATION</a:t>
            </a:r>
            <a:r>
              <a:rPr sz="1500" b="1" spc="-30" dirty="0">
                <a:solidFill>
                  <a:srgbClr val="003300"/>
                </a:solidFill>
                <a:latin typeface="Times New Roman"/>
                <a:cs typeface="Times New Roman"/>
              </a:rPr>
              <a:t> </a:t>
            </a:r>
            <a:r>
              <a:rPr sz="1500" b="1" spc="-8" dirty="0">
                <a:solidFill>
                  <a:srgbClr val="003300"/>
                </a:solidFill>
                <a:latin typeface="Times New Roman"/>
                <a:cs typeface="Times New Roman"/>
              </a:rPr>
              <a:t>SCIENCE</a:t>
            </a:r>
            <a:r>
              <a:rPr sz="1500" b="1" spc="-53" dirty="0">
                <a:solidFill>
                  <a:srgbClr val="003300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003300"/>
                </a:solidFill>
                <a:latin typeface="Times New Roman"/>
                <a:cs typeface="Times New Roman"/>
              </a:rPr>
              <a:t>AND</a:t>
            </a:r>
            <a:r>
              <a:rPr sz="1500" b="1" spc="-8" dirty="0">
                <a:solidFill>
                  <a:srgbClr val="003300"/>
                </a:solidFill>
                <a:latin typeface="Times New Roman"/>
                <a:cs typeface="Times New Roman"/>
              </a:rPr>
              <a:t> ENGINEERING </a:t>
            </a:r>
            <a:r>
              <a:rPr sz="1500" b="1" dirty="0">
                <a:solidFill>
                  <a:srgbClr val="003300"/>
                </a:solidFill>
                <a:latin typeface="Times New Roman"/>
                <a:cs typeface="Times New Roman"/>
              </a:rPr>
              <a:t>K.R.ROAD,</a:t>
            </a:r>
            <a:r>
              <a:rPr sz="1500" b="1" spc="-64" dirty="0">
                <a:solidFill>
                  <a:srgbClr val="003300"/>
                </a:solidFill>
                <a:latin typeface="Times New Roman"/>
                <a:cs typeface="Times New Roman"/>
              </a:rPr>
              <a:t> </a:t>
            </a:r>
            <a:r>
              <a:rPr sz="1500" b="1" spc="-41" dirty="0">
                <a:solidFill>
                  <a:srgbClr val="003300"/>
                </a:solidFill>
                <a:latin typeface="Times New Roman"/>
                <a:cs typeface="Times New Roman"/>
              </a:rPr>
              <a:t>V.V.PURAM,</a:t>
            </a:r>
            <a:r>
              <a:rPr sz="1500" b="1" spc="-49" dirty="0">
                <a:solidFill>
                  <a:srgbClr val="003300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003300"/>
                </a:solidFill>
                <a:latin typeface="Times New Roman"/>
                <a:cs typeface="Times New Roman"/>
              </a:rPr>
              <a:t>BANGALORE</a:t>
            </a:r>
            <a:r>
              <a:rPr sz="1500" b="1" spc="11" dirty="0">
                <a:solidFill>
                  <a:srgbClr val="003300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003300"/>
                </a:solidFill>
                <a:latin typeface="Times New Roman"/>
                <a:cs typeface="Times New Roman"/>
              </a:rPr>
              <a:t>–</a:t>
            </a:r>
            <a:r>
              <a:rPr sz="1500" b="1" spc="-41" dirty="0">
                <a:solidFill>
                  <a:srgbClr val="003300"/>
                </a:solidFill>
                <a:latin typeface="Times New Roman"/>
                <a:cs typeface="Times New Roman"/>
              </a:rPr>
              <a:t> </a:t>
            </a:r>
            <a:r>
              <a:rPr sz="1500" b="1" spc="-8" dirty="0">
                <a:solidFill>
                  <a:srgbClr val="003300"/>
                </a:solidFill>
                <a:latin typeface="Times New Roman"/>
                <a:cs typeface="Times New Roman"/>
              </a:rPr>
              <a:t>560004</a:t>
            </a:r>
            <a:endParaRPr sz="1500" dirty="0">
              <a:latin typeface="Times New Roman"/>
              <a:cs typeface="Times New Roman"/>
            </a:endParaRPr>
          </a:p>
          <a:p>
            <a:pPr marL="638175" algn="ctr"/>
            <a:r>
              <a:rPr sz="1500" b="1" dirty="0">
                <a:latin typeface="Times New Roman"/>
                <a:cs typeface="Times New Roman"/>
              </a:rPr>
              <a:t>Machine</a:t>
            </a:r>
            <a:r>
              <a:rPr sz="1500" b="1" spc="-49" dirty="0">
                <a:latin typeface="Times New Roman"/>
                <a:cs typeface="Times New Roman"/>
              </a:rPr>
              <a:t> </a:t>
            </a:r>
            <a:r>
              <a:rPr sz="1500" b="1" spc="-8" dirty="0">
                <a:latin typeface="Times New Roman"/>
                <a:cs typeface="Times New Roman"/>
              </a:rPr>
              <a:t>Learning(BCS602)</a:t>
            </a:r>
            <a:endParaRPr sz="1500" dirty="0">
              <a:latin typeface="Times New Roman"/>
              <a:cs typeface="Times New Roman"/>
            </a:endParaRPr>
          </a:p>
          <a:p>
            <a:pPr>
              <a:spcBef>
                <a:spcPts val="581"/>
              </a:spcBef>
            </a:pPr>
            <a:endParaRPr sz="1500" dirty="0">
              <a:latin typeface="Times New Roman"/>
              <a:cs typeface="Times New Roman"/>
            </a:endParaRPr>
          </a:p>
          <a:p>
            <a:pPr marL="9525" algn="ctr"/>
            <a:r>
              <a:rPr b="1" dirty="0">
                <a:latin typeface="Times New Roman"/>
                <a:cs typeface="Times New Roman"/>
              </a:rPr>
              <a:t>“</a:t>
            </a:r>
            <a:r>
              <a:rPr lang="en-IN" b="1" dirty="0">
                <a:latin typeface="Trebuchet MS"/>
                <a:cs typeface="Trebuchet MS"/>
              </a:rPr>
              <a:t>AI Driven Urban Heat Island Effect For Bengaluru</a:t>
            </a:r>
            <a:r>
              <a:rPr b="1" spc="-38" dirty="0">
                <a:latin typeface="Times New Roman"/>
                <a:cs typeface="Times New Roman"/>
              </a:rPr>
              <a:t>”</a:t>
            </a:r>
            <a:endParaRPr dirty="0">
              <a:latin typeface="Times New Roman"/>
              <a:cs typeface="Times New Roman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14541" y="3680841"/>
          <a:ext cx="2863215" cy="1319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934">
                <a:tc>
                  <a:txBody>
                    <a:bodyPr/>
                    <a:lstStyle/>
                    <a:p>
                      <a:pPr marL="43815">
                        <a:lnSpc>
                          <a:spcPts val="1964"/>
                        </a:lnSpc>
                      </a:pP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 algn="ctr">
                        <a:lnSpc>
                          <a:spcPts val="1964"/>
                        </a:lnSpc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USN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IN" sz="1400" dirty="0">
                          <a:latin typeface="Times New Roman"/>
                          <a:cs typeface="Times New Roman"/>
                        </a:rPr>
                        <a:t>B RAKESH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3336" marB="0"/>
                </a:tc>
                <a:tc>
                  <a:txBody>
                    <a:bodyPr/>
                    <a:lstStyle/>
                    <a:p>
                      <a:pPr marL="13652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1BI23IS0</a:t>
                      </a:r>
                      <a:r>
                        <a:rPr lang="en-IN" sz="1400" spc="-10" dirty="0">
                          <a:latin typeface="Times New Roman"/>
                          <a:cs typeface="Times New Roman"/>
                        </a:rPr>
                        <a:t>18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3336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IN" sz="1400" spc="-60" dirty="0">
                          <a:latin typeface="Times New Roman"/>
                          <a:cs typeface="Times New Roman"/>
                        </a:rPr>
                        <a:t>BHAVANI SHANKER K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3336" marB="0"/>
                </a:tc>
                <a:tc>
                  <a:txBody>
                    <a:bodyPr/>
                    <a:lstStyle/>
                    <a:p>
                      <a:pPr marL="13398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1BI23IS0</a:t>
                      </a:r>
                      <a:r>
                        <a:rPr lang="en-IN" sz="1400" spc="-10" dirty="0">
                          <a:latin typeface="Times New Roman"/>
                          <a:cs typeface="Times New Roman"/>
                        </a:rPr>
                        <a:t>22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3336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IN" sz="1400" dirty="0">
                          <a:latin typeface="Times New Roman"/>
                          <a:cs typeface="Times New Roman"/>
                        </a:rPr>
                        <a:t>DEEPAK HEGDE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3336" marB="0"/>
                </a:tc>
                <a:tc>
                  <a:txBody>
                    <a:bodyPr/>
                    <a:lstStyle/>
                    <a:p>
                      <a:pPr marL="13398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1BI23IS0</a:t>
                      </a:r>
                      <a:r>
                        <a:rPr lang="en-IN" sz="1400" spc="-10" dirty="0">
                          <a:latin typeface="Times New Roman"/>
                          <a:cs typeface="Times New Roman"/>
                        </a:rPr>
                        <a:t>31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3336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934">
                <a:tc>
                  <a:txBody>
                    <a:bodyPr/>
                    <a:lstStyle/>
                    <a:p>
                      <a:pPr marL="31750">
                        <a:lnSpc>
                          <a:spcPts val="2090"/>
                        </a:lnSpc>
                        <a:spcBef>
                          <a:spcPts val="245"/>
                        </a:spcBef>
                      </a:pPr>
                      <a:r>
                        <a:rPr lang="en-IN" sz="1400" dirty="0">
                          <a:latin typeface="Times New Roman"/>
                          <a:cs typeface="Times New Roman"/>
                        </a:rPr>
                        <a:t>DEEKSHITH K B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3336" marB="0"/>
                </a:tc>
                <a:tc>
                  <a:txBody>
                    <a:bodyPr/>
                    <a:lstStyle/>
                    <a:p>
                      <a:pPr marL="133985" algn="ctr">
                        <a:lnSpc>
                          <a:spcPts val="2090"/>
                        </a:lnSpc>
                        <a:spcBef>
                          <a:spcPts val="24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1BI24IS4</a:t>
                      </a:r>
                      <a:r>
                        <a:rPr lang="en-IN" sz="1400" spc="-10" dirty="0">
                          <a:latin typeface="Times New Roman"/>
                          <a:cs typeface="Times New Roman"/>
                        </a:rPr>
                        <a:t>16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3336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798347" y="3328283"/>
            <a:ext cx="984885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dirty="0">
                <a:latin typeface="Times New Roman"/>
                <a:cs typeface="Times New Roman"/>
              </a:rPr>
              <a:t>Presented</a:t>
            </a:r>
            <a:r>
              <a:rPr sz="1350" b="1" spc="-49" dirty="0">
                <a:latin typeface="Times New Roman"/>
                <a:cs typeface="Times New Roman"/>
              </a:rPr>
              <a:t> </a:t>
            </a:r>
            <a:r>
              <a:rPr sz="1350" b="1" spc="-19" dirty="0">
                <a:latin typeface="Times New Roman"/>
                <a:cs typeface="Times New Roman"/>
              </a:rPr>
              <a:t>By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00000" y="3247882"/>
            <a:ext cx="2340769" cy="97142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R="413385" algn="r">
              <a:spcBef>
                <a:spcPts val="675"/>
              </a:spcBef>
            </a:pPr>
            <a:r>
              <a:rPr sz="1500" b="1" dirty="0">
                <a:latin typeface="Times New Roman"/>
                <a:cs typeface="Times New Roman"/>
              </a:rPr>
              <a:t>Under</a:t>
            </a:r>
            <a:r>
              <a:rPr sz="1500" b="1" spc="-53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the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Guidance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spc="-19" dirty="0">
                <a:latin typeface="Times New Roman"/>
                <a:cs typeface="Times New Roman"/>
              </a:rPr>
              <a:t>of</a:t>
            </a:r>
            <a:r>
              <a:rPr sz="1350" b="1" spc="-19" dirty="0">
                <a:latin typeface="Times New Roman"/>
                <a:cs typeface="Times New Roman"/>
              </a:rPr>
              <a:t>:</a:t>
            </a:r>
            <a:endParaRPr sz="1350">
              <a:latin typeface="Times New Roman"/>
              <a:cs typeface="Times New Roman"/>
            </a:endParaRPr>
          </a:p>
          <a:p>
            <a:pPr marR="376713" algn="r">
              <a:spcBef>
                <a:spcPts val="596"/>
              </a:spcBef>
            </a:pPr>
            <a:r>
              <a:rPr sz="1500" b="1" spc="-34" dirty="0">
                <a:latin typeface="Times New Roman"/>
                <a:cs typeface="Times New Roman"/>
              </a:rPr>
              <a:t>Dr. </a:t>
            </a:r>
            <a:r>
              <a:rPr sz="1500" b="1" dirty="0">
                <a:latin typeface="Times New Roman"/>
                <a:cs typeface="Times New Roman"/>
              </a:rPr>
              <a:t>Jayasheela</a:t>
            </a:r>
            <a:r>
              <a:rPr sz="1500" b="1" spc="-56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C</a:t>
            </a:r>
            <a:r>
              <a:rPr sz="1500" b="1" spc="-34" dirty="0">
                <a:latin typeface="Times New Roman"/>
                <a:cs typeface="Times New Roman"/>
              </a:rPr>
              <a:t> </a:t>
            </a:r>
            <a:r>
              <a:rPr sz="1500" b="1" spc="-38" dirty="0">
                <a:latin typeface="Times New Roman"/>
                <a:cs typeface="Times New Roman"/>
              </a:rPr>
              <a:t>S</a:t>
            </a:r>
            <a:endParaRPr sz="1500">
              <a:latin typeface="Times New Roman"/>
              <a:cs typeface="Times New Roman"/>
            </a:endParaRPr>
          </a:p>
          <a:p>
            <a:pPr marL="370046" algn="ctr">
              <a:spcBef>
                <a:spcPts val="900"/>
              </a:spcBef>
            </a:pPr>
            <a:r>
              <a:rPr sz="1500" b="1" dirty="0">
                <a:latin typeface="Times New Roman"/>
                <a:cs typeface="Times New Roman"/>
              </a:rPr>
              <a:t>Associate</a:t>
            </a:r>
            <a:r>
              <a:rPr sz="1500" b="1" spc="-38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Professor</a:t>
            </a:r>
            <a:r>
              <a:rPr sz="1500" b="1" spc="-49" dirty="0">
                <a:latin typeface="Times New Roman"/>
                <a:cs typeface="Times New Roman"/>
              </a:rPr>
              <a:t> </a:t>
            </a:r>
            <a:r>
              <a:rPr sz="1500" b="1" spc="-19" dirty="0">
                <a:latin typeface="Times New Roman"/>
                <a:cs typeface="Times New Roman"/>
              </a:rPr>
              <a:t>BIT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457200" cy="13716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Abstract: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749808"/>
            <a:ext cx="82296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6012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focuses on predicting the Urban Heat Island (UHI) effect in Bengaluru using satellite-based remote sensing data and machine learning techniques.</a:t>
            </a:r>
            <a:endParaRPr lang="en-US" sz="14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to predict UHI intensity — how much hotter a given location is compared to the city mean — based on spectral indices derived from Landsat 8 satellite imagery.</a:t>
            </a:r>
            <a:endParaRPr lang="en-US" sz="14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such as NDVI, NDBI, NDWI, MNDWI, BSI, and spatial coordinates (lat/lon) are used as inputs to the model.</a:t>
            </a:r>
            <a:endParaRPr lang="en-US" sz="14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is used as the primary predictive model, trained on multi-year Landsat data (2021–2023) to identify spatial heat patterns across the city.</a:t>
            </a:r>
            <a:endParaRPr lang="en-US" sz="14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deployed as an interactive Streamlit dashboard that fetches real-time satellite data from Google Earth Engine to predict UHI zones for any location in Bengaluru.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457200" cy="13716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Introduction: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749808"/>
            <a:ext cx="82296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6012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Bengaluru, known as the "Silicon Valley of India," has undergone rapid urbanisation over the past two decades, replacing green cover and water bodies with roads, buildings, and impervious surfaces.</a:t>
            </a:r>
            <a:endParaRPr lang="en-US" sz="13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Heat Islands (UHI) are a direct consequence of this urban sprawl — where city areas become significantly hotter than surrounding rural regions.</a:t>
            </a:r>
            <a:endParaRPr lang="en-US" sz="13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temperature difference leads to increased energy consumption, heat-related health issues, and worsening air quality.</a:t>
            </a:r>
            <a:endParaRPr lang="en-US" sz="13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UHI analysis relies on ground-based weather stations, which are sparse and cannot capture the spatial variability of heat distribution across a city.</a:t>
            </a:r>
            <a:endParaRPr lang="en-US" sz="13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sensing via satellites like Landsat 8 provides spatially continuous surface temperature data, making it ideal for city-wide UHI mapping.</a:t>
            </a:r>
            <a:endParaRPr lang="en-US" sz="13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can learn complex non-linear relationships between land surface properties and temperature, enabling accurate UHI prediction at scale.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457200" cy="13716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749808"/>
            <a:ext cx="82296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6012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is experiencing a significant rise in surface temperatures due to unplanned urban growth, loss of green cover, and increased construction activity.</a:t>
            </a:r>
            <a:endParaRPr lang="en-US" sz="14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which areas of the city are most heat-stressed is critical for urban planners, public health officials, and environmental agencies.</a:t>
            </a:r>
            <a:endParaRPr lang="en-US" sz="14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methods of heat monitoring using weather stations are spatially limited and expensive to maintain at scale across a large metropolitan area.</a:t>
            </a:r>
            <a:endParaRPr lang="en-US" sz="14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data-driven approach, it is difficult to quantify the contribution of individual land cover factors (vegetation, built-up area, water bodies) to local heat intensity.</a:t>
            </a:r>
            <a:endParaRPr lang="en-US" sz="14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need for an automated, scalable system that can predict UHI intensity for any location in Bengaluru using freely available satellite data and machine learning.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457200" cy="13716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749808"/>
            <a:ext cx="82296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1440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via Google Earth Engine (GEE):</a:t>
            </a:r>
            <a:endParaRPr lang="en-US" sz="1300" dirty="0"/>
          </a:p>
          <a:p>
            <a:pPr marL="685800" lvl="1" indent="-342900" algn="just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Landsat 8 imagery is fetched for Bengaluru across 2021–2023 (Mar–May, cloud cover &lt;10%). Median composites eliminate cloud noise.</a:t>
            </a:r>
            <a:endParaRPr lang="en-US" sz="1300" dirty="0"/>
          </a:p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Extraction:</a:t>
            </a:r>
            <a:endParaRPr lang="en-US" sz="1300" dirty="0"/>
          </a:p>
          <a:p>
            <a:pPr marL="685800" lvl="1" indent="-342900" algn="just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spectral indices — NDVI, NDBI, NDWI, MNDWI, BSI — plus latitude and longitude are computed per pixel at 30m resolution.</a:t>
            </a:r>
            <a:endParaRPr lang="en-US" sz="1300" dirty="0"/>
          </a:p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— UHI Intensity:</a:t>
            </a:r>
            <a:endParaRPr lang="en-US" sz="1300" dirty="0"/>
          </a:p>
          <a:p>
            <a:pPr marL="685800" lvl="1" indent="-342900" algn="just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UHI intensity is defined as the deviation of each pixel's LST from the city-wide mean LST, computed per year to avoid cross-year bias.</a:t>
            </a:r>
            <a:endParaRPr lang="en-US" sz="1300" dirty="0"/>
          </a:p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Model:</a:t>
            </a:r>
            <a:endParaRPr lang="en-US" sz="1300" dirty="0"/>
          </a:p>
          <a:p>
            <a:pPr marL="685800" lvl="1" indent="-342900" algn="just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regressor trained on ~9000 pixels. Evaluated using R², MAE, and RMSE against a held-out test set.</a:t>
            </a:r>
            <a:endParaRPr lang="en-US" sz="1300" dirty="0"/>
          </a:p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Dashboard:</a:t>
            </a:r>
            <a:endParaRPr lang="en-US" sz="1300" dirty="0"/>
          </a:p>
          <a:p>
            <a:pPr marL="685800" lvl="1" indent="-342900" algn="just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app that fetches live GEE data for any Bengaluru location and predicts UHI intensity with zone classification.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457200" cy="13716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Architecture: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749808"/>
            <a:ext cx="82296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" y="2103120"/>
            <a:ext cx="1078992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9264" y="2103120"/>
            <a:ext cx="1078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Landsat 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 Input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48256" y="2487168"/>
            <a:ext cx="146304" cy="54864"/>
          </a:xfrm>
          <a:prstGeom prst="rect">
            <a:avLst/>
          </a:prstGeom>
          <a:solidFill>
            <a:srgbClr val="5A6474"/>
          </a:solidFill>
          <a:ln w="12700">
            <a:solidFill>
              <a:srgbClr val="5A64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29968" y="238658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4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94560" y="2103120"/>
            <a:ext cx="1078992" cy="8229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94560" y="2103120"/>
            <a:ext cx="1078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73552" y="2487168"/>
            <a:ext cx="146304" cy="54864"/>
          </a:xfrm>
          <a:prstGeom prst="rect">
            <a:avLst/>
          </a:prstGeom>
          <a:solidFill>
            <a:srgbClr val="5A6474"/>
          </a:solidFill>
          <a:ln w="12700">
            <a:solidFill>
              <a:srgbClr val="5A64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55264" y="238658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4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19856" y="2103120"/>
            <a:ext cx="1078992" cy="8229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19856" y="2103120"/>
            <a:ext cx="1078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98848" y="2487168"/>
            <a:ext cx="146304" cy="54864"/>
          </a:xfrm>
          <a:prstGeom prst="rect">
            <a:avLst/>
          </a:prstGeom>
          <a:solidFill>
            <a:srgbClr val="5A6474"/>
          </a:solidFill>
          <a:ln w="12700">
            <a:solidFill>
              <a:srgbClr val="5A64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238658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4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45152" y="2103120"/>
            <a:ext cx="1078992" cy="82296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45152" y="2103120"/>
            <a:ext cx="1078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24144" y="2487168"/>
            <a:ext cx="146304" cy="54864"/>
          </a:xfrm>
          <a:prstGeom prst="rect">
            <a:avLst/>
          </a:prstGeom>
          <a:solidFill>
            <a:srgbClr val="5A6474"/>
          </a:solidFill>
          <a:ln w="12700">
            <a:solidFill>
              <a:srgbClr val="5A64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05856" y="238658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4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70448" y="2103120"/>
            <a:ext cx="1078992" cy="8229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870448" y="2103120"/>
            <a:ext cx="1078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49440" y="2487168"/>
            <a:ext cx="146304" cy="54864"/>
          </a:xfrm>
          <a:prstGeom prst="rect">
            <a:avLst/>
          </a:prstGeom>
          <a:solidFill>
            <a:srgbClr val="5A6474"/>
          </a:solidFill>
          <a:ln w="12700">
            <a:solidFill>
              <a:srgbClr val="5A647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31152" y="238658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4"/>
                </a:solidFill>
              </a:rPr>
              <a:t>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95744" y="2103120"/>
            <a:ext cx="1078992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095744" y="2103120"/>
            <a:ext cx="1078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9264" y="301752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2021–2023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94560" y="301752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NDVI·NDBI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NDWI·MNDWI·BSI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19856" y="301752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~9000 pixels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lat/lon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45152" y="301752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R²=0.436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MAE=1.62°C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70448" y="301752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Zone: Low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Medium·High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95744" y="301752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map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SHAP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5800" y="3703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imagery is sourced from Landsat 8 via Google Earth Engine and processed into spectral indices.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XGBoost model predicts UHI intensity per pixel, which is visualised on a Folium map in the Streamlit dashboard.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457200" cy="13716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5400000">
            <a:off x="621792" y="0"/>
            <a:ext cx="365760" cy="1371600"/>
          </a:xfrm>
          <a:prstGeom prst="rtTriangl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Features: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749808"/>
            <a:ext cx="82296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60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28016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Satellite: Landsat 8 OLI/TIRS (NASA / USGS)</a:t>
            </a:r>
            <a:endParaRPr lang="en-US" sz="12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C02 Tier 1 Level-2 (surface reflectance)</a:t>
            </a:r>
            <a:endParaRPr lang="en-US" sz="12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March–May 2021, 2022, 2023</a:t>
            </a:r>
            <a:endParaRPr lang="en-US" sz="12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Bengaluru (77.4–77.8°E, 12.8–13.2°N)</a:t>
            </a:r>
            <a:endParaRPr lang="en-US" sz="12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30 metres per pixel</a:t>
            </a:r>
            <a:endParaRPr lang="en-US" sz="12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Cloud cover &lt; 10%</a:t>
            </a:r>
            <a:endParaRPr lang="en-US" sz="12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Aggregation: Median composite per year</a:t>
            </a:r>
            <a:endParaRPr lang="en-US" sz="12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size: ~9,000 pixels across 3 years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9601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280160"/>
          <a:ext cx="4023360" cy="35661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NDVI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Vegetation density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NDBI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Built-up surface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NDWI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MNDWI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 water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 soil / impervious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lat/lon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 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LST_C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Target: surface temp 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UHI Intensity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Target: deviation from mean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457200" cy="13716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— XGBoost: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749808"/>
            <a:ext cx="82296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1440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XGBoost?</a:t>
            </a:r>
            <a:endParaRPr lang="en-US" sz="1300" dirty="0"/>
          </a:p>
          <a:p>
            <a:pPr marL="342900" lvl="1"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(Extreme Gradient Boosting) is an ensemble machine learning algorithm that builds an additive model of decision trees in a forward stage-wise manner.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XGBoost for UHI Prediction?</a:t>
            </a:r>
            <a:endParaRPr lang="en-US" sz="1300" dirty="0"/>
          </a:p>
          <a:p>
            <a:pPr marL="342900" lvl="1"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handles non-linear relationships between spectral indices and temperature effectively, is robust to outliers in satellite data, and outperformed Random Forest and Gradient Boosting in our experiments.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 Used:</a:t>
            </a:r>
            <a:endParaRPr lang="en-US" sz="1300" dirty="0"/>
          </a:p>
          <a:p>
            <a:pPr marL="342900" lvl="1"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n_estimators=500, learning_rate=0.03, max_depth=7, subsample=0.8, colsample_bytree=0.8, min_child_weight=3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Strategy:</a:t>
            </a:r>
            <a:endParaRPr lang="en-US" sz="1300" dirty="0"/>
          </a:p>
          <a:p>
            <a:pPr marL="342900" lvl="1"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preprocessing → 80/20 train-test split → fit on UHI_intensity target (deviation from city mean LST, computed per year).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Metrics:</a:t>
            </a:r>
            <a:endParaRPr lang="en-US" sz="1300" dirty="0"/>
          </a:p>
          <a:p>
            <a:pPr marL="342900" lvl="1"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0.436  |  MAE = 1.62°C  |  RMSE = 2.04°C  — best among all three models tested.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457200" cy="13716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Working: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749808"/>
            <a:ext cx="82296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005840"/>
            <a:ext cx="3931920" cy="1463040"/>
          </a:xfrm>
          <a:prstGeom prst="rect">
            <a:avLst/>
          </a:prstGeom>
          <a:solidFill>
            <a:srgbClr val="EEF3FB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097280"/>
            <a:ext cx="411480" cy="411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1155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 Data Pull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5087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Landsat 8 median composite for Bengaluru region. Apply cloud filter &lt;10%.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1005840"/>
            <a:ext cx="3931920" cy="1463040"/>
          </a:xfrm>
          <a:prstGeom prst="rect">
            <a:avLst/>
          </a:prstGeom>
          <a:solidFill>
            <a:srgbClr val="EEF3FB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1097280"/>
            <a:ext cx="411480" cy="411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32120" y="11155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Computation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4920" y="15087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NDVI, NDBI, NDWI, MNDWI, BSI from band combinations. Extract LST from Band 10.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2697480"/>
            <a:ext cx="3931920" cy="1463040"/>
          </a:xfrm>
          <a:prstGeom prst="rect">
            <a:avLst/>
          </a:prstGeom>
          <a:solidFill>
            <a:srgbClr val="EEF3FB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2788920"/>
            <a:ext cx="411480" cy="411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28072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UHI Target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320040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LST to °C. Compute UHI intensity = LST_C − mean(LST_C) per year.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2697480"/>
            <a:ext cx="3931920" cy="1463040"/>
          </a:xfrm>
          <a:prstGeom prst="rect">
            <a:avLst/>
          </a:prstGeom>
          <a:solidFill>
            <a:srgbClr val="EEF3FB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2788920"/>
            <a:ext cx="411480" cy="411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32120" y="28072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74920" y="320040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features → XGBoost predicts UHI intensity → classify into Low / Medium / High zone.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" y="4480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(SHapley Additive exPlanations) is used post-prediction to explain which features most influenced each UHI intensity output, making the model interpretable.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457200" cy="13716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749808"/>
            <a:ext cx="82296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 &amp; Tools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261872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(Conda environment)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Earth Engine API (earthengine-api)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for data pipeline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for web dashboard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+ streamlit-folium for interactive map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273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Used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" y="35204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 — data handling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preprocessing, metrics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model training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— explainability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— visualization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— model serialization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Artifacts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298448"/>
            <a:ext cx="3977640" cy="548640"/>
          </a:xfrm>
          <a:prstGeom prst="rect">
            <a:avLst/>
          </a:prstGeom>
          <a:solidFill>
            <a:srgbClr val="EEF3FB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298448"/>
            <a:ext cx="54864" cy="5486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3533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best_model.pkl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15727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XGBoost model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956816"/>
            <a:ext cx="3977640" cy="548640"/>
          </a:xfrm>
          <a:prstGeom prst="rect">
            <a:avLst/>
          </a:prstGeom>
          <a:solidFill>
            <a:srgbClr val="EEF3FB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956816"/>
            <a:ext cx="54864" cy="5486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011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scaler.pkl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2311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for features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615184"/>
            <a:ext cx="3977640" cy="548640"/>
          </a:xfrm>
          <a:prstGeom prst="rect">
            <a:avLst/>
          </a:prstGeom>
          <a:solidFill>
            <a:srgbClr val="EEF3FB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615184"/>
            <a:ext cx="54864" cy="5486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6700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features.json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28895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feature names list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273552"/>
            <a:ext cx="3977640" cy="548640"/>
          </a:xfrm>
          <a:prstGeom prst="rect">
            <a:avLst/>
          </a:prstGeom>
          <a:solidFill>
            <a:srgbClr val="EEF3FB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273552"/>
            <a:ext cx="54864" cy="5486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3284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uhi_data.csv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35478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3-year pixel dataset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931920"/>
            <a:ext cx="3977640" cy="548640"/>
          </a:xfrm>
          <a:prstGeom prst="rect">
            <a:avLst/>
          </a:prstGeom>
          <a:solidFill>
            <a:srgbClr val="EEF3FB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3931920"/>
            <a:ext cx="54864" cy="5486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9867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42062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code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457200" cy="13716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749808"/>
            <a:ext cx="82296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80160"/>
          <a:ext cx="8046720" cy="13716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(°C)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(°C)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(Best)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8580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UHI Zone Classification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3200400"/>
            <a:ext cx="2651760" cy="1600200"/>
          </a:xfrm>
          <a:prstGeom prst="rect">
            <a:avLst/>
          </a:prstGeom>
          <a:solidFill>
            <a:srgbClr val="EAF9F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" y="3200400"/>
            <a:ext cx="265176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9"/>
          <p:cNvSpPr/>
          <p:nvPr/>
        </p:nvSpPr>
        <p:spPr>
          <a:xfrm>
            <a:off x="685800" y="32004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heat zone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UHI intensity &lt; +0.5°C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" y="39319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Cubbon Park, Lalbagh, Bannerghatta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520440" y="3200400"/>
            <a:ext cx="2651760" cy="1600200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20440" y="3200400"/>
            <a:ext cx="265176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20440" y="32004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heat zone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611880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+0.5°C to +2.0°C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11880" y="39319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Koramangala, Hebbal, Rajajinagar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355080" y="3200400"/>
            <a:ext cx="2651760" cy="160020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55080" y="3200400"/>
            <a:ext cx="26517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55080" y="32004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heat zone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46520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UHI intensity &gt; +2.0°C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46520" y="39319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Whitefield, Electronic City, Marathahalli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A936A-B01C-9A7C-5AE0-11EB726FD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IN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Comparsion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Graphs: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11160B-15F2-D84E-5A5A-8CC93C81CF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331468"/>
            <a:ext cx="3943350" cy="32635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3F060C-4731-E341-884C-625273F25D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291610"/>
            <a:ext cx="3962442" cy="326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726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457200" cy="13716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749808"/>
            <a:ext cx="82296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6012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the successful application of machine learning to predict Urban Heat Island intensity in Bengaluru using freely available NASA/USGS Landsat 8 satellite data.</a:t>
            </a:r>
            <a:endParaRPr lang="en-US" sz="13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five spectral indices (NDVI, NDBI, NDWI, MNDWI, BSI) with spatial coordinates across three years of data, the XGBoost model achieved R²=0.436 — consistent with published remote-sensing UHI literature.</a:t>
            </a:r>
            <a:endParaRPr lang="en-US" sz="13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 analysis confirms that the model's predictions are physically meaningful: NDBI (built-up density) is the strongest positive driver of heat, while MNDWI and NDVI act as cooling factors.</a:t>
            </a:r>
            <a:endParaRPr lang="en-US" sz="13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Streamlit dashboard fetches real satellite data from Google Earth Engine and predicts UHI intensity for any user-selected location in Bengaluru, making the model practically usable.</a:t>
            </a:r>
            <a:endParaRPr lang="en-US" sz="13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can assist urban planners and policy makers in identifying heat-prone zones and prioritising green infrastructure development in the most at-risk areas of the city.</a:t>
            </a:r>
            <a:endParaRPr lang="en-US" sz="13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can incorporate population density, road network data, and building height to further improve prediction accuracy beyond R²=0.50.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548640"/>
            <a:ext cx="2743200" cy="2743200"/>
          </a:xfrm>
          <a:prstGeom prst="ellipse">
            <a:avLst/>
          </a:prstGeom>
          <a:solidFill>
            <a:srgbClr val="2E5FA3">
              <a:alpha val="3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Prediction of Urban Heat Island Effect in Bengaluru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4348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  |  Bangalore Institute of Technology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1537</Words>
  <Application>Microsoft Office PowerPoint</Application>
  <PresentationFormat>On-screen Show (16:9)</PresentationFormat>
  <Paragraphs>211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 New Roman</vt:lpstr>
      <vt:lpstr>Trebuchet MS</vt:lpstr>
      <vt:lpstr>Office Theme</vt:lpstr>
      <vt:lpstr>BANGALORE INSTITUTE OF TECHNOLOGY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Comparsion Graphs: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Urban Heat Island Prediction - Bengaluru</dc:title>
  <dc:subject>PptxGenJS Presentation</dc:subject>
  <dc:creator>PptxGenJS</dc:creator>
  <cp:lastModifiedBy>Rakesh Belgundi</cp:lastModifiedBy>
  <cp:revision>3</cp:revision>
  <dcterms:created xsi:type="dcterms:W3CDTF">2026-03-31T18:24:18Z</dcterms:created>
  <dcterms:modified xsi:type="dcterms:W3CDTF">2026-04-01T13:56:44Z</dcterms:modified>
</cp:coreProperties>
</file>